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7" r:id="rId2"/>
    <p:sldId id="259" r:id="rId3"/>
    <p:sldId id="260" r:id="rId4"/>
    <p:sldId id="266" r:id="rId5"/>
    <p:sldId id="261" r:id="rId6"/>
    <p:sldId id="267" r:id="rId7"/>
    <p:sldId id="270"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02"/>
  </p:normalViewPr>
  <p:slideViewPr>
    <p:cSldViewPr snapToGrid="0" snapToObjects="1" showGuides="1">
      <p:cViewPr varScale="1">
        <p:scale>
          <a:sx n="58" d="100"/>
          <a:sy n="58"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pPr/>
              <a:t>2/12/2026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pPr/>
              <a:t>‹#›</a:t>
            </a:fld>
            <a:endParaRPr lang="en-US" dirty="0"/>
          </a:p>
        </p:txBody>
      </p:sp>
    </p:spTree>
    <p:extLst>
      <p:ext uri="{BB962C8B-B14F-4D97-AF65-F5344CB8AC3E}">
        <p14:creationId xmlns:p14="http://schemas.microsoft.com/office/powerpoint/2010/main" val="190897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A25F9-16D3-E64A-8639-7B020C319E7B}" type="slidenum">
              <a:rPr lang="en-US" smtClean="0"/>
              <a:pPr/>
              <a:t>2</a:t>
            </a:fld>
            <a:endParaRPr lang="en-US" dirty="0"/>
          </a:p>
        </p:txBody>
      </p:sp>
    </p:spTree>
    <p:extLst>
      <p:ext uri="{BB962C8B-B14F-4D97-AF65-F5344CB8AC3E}">
        <p14:creationId xmlns:p14="http://schemas.microsoft.com/office/powerpoint/2010/main" val="42831463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charset="0"/>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8" name="Picture 7" descr="University at Buffalo, The State University of New York logo">
            <a:extLst>
              <a:ext uri="{FF2B5EF4-FFF2-40B4-BE49-F238E27FC236}">
                <a16:creationId xmlns:a16="http://schemas.microsoft.com/office/drawing/2014/main" id="{9C7DE7FF-FD86-434E-91D5-DF1AA23EE7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extLst>
      <p:ext uri="{BB962C8B-B14F-4D97-AF65-F5344CB8AC3E}">
        <p14:creationId xmlns:p14="http://schemas.microsoft.com/office/powerpoint/2010/main" val="382541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extLst>
      <p:ext uri="{BB962C8B-B14F-4D97-AF65-F5344CB8AC3E}">
        <p14:creationId xmlns:p14="http://schemas.microsoft.com/office/powerpoint/2010/main" val="252752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E420E5-CF10-E744-8836-DA131F3DFECE}"/>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91240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4A51F46-BA21-2546-AE85-93B56EC06187}"/>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08321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FC1A3F1F-FF47-0844-82BA-F475FCD0AAB6}"/>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49946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BCA91F9-8796-3D42-B75E-9C7F7D9B7352}"/>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7484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p:txBody>
          <a:bodyPr>
            <a:spAutoFit/>
          </a:bodyPr>
          <a:lstStyle/>
          <a:p>
            <a:r>
              <a:rPr lang="en-US" dirty="0"/>
              <a:t>Click to edit Master title style</a:t>
            </a:r>
          </a:p>
        </p:txBody>
      </p:sp>
      <p:sp>
        <p:nvSpPr>
          <p:cNvPr id="4" name="Footer Placeholder 3">
            <a:extLst>
              <a:ext uri="{FF2B5EF4-FFF2-40B4-BE49-F238E27FC236}">
                <a16:creationId xmlns:a16="http://schemas.microsoft.com/office/drawing/2014/main" id="{19A2EBF7-C6C5-4541-B47E-7FB413A3DF8C}"/>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20925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13847-6053-FF4A-A422-D886A866F53F}"/>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4251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D8C17C1-D75E-7F4A-895D-15D9E2D1D38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1616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10" name="Footer Placeholder 9">
            <a:extLst>
              <a:ext uri="{FF2B5EF4-FFF2-40B4-BE49-F238E27FC236}">
                <a16:creationId xmlns:a16="http://schemas.microsoft.com/office/drawing/2014/main" id="{2F90DAFF-101D-E948-A7EE-D57686CEB2DD}"/>
              </a:ext>
            </a:extLst>
          </p:cNvPr>
          <p:cNvSpPr>
            <a:spLocks noGrp="1"/>
          </p:cNvSpPr>
          <p:nvPr>
            <p:ph type="ftr" sz="quarter" idx="16"/>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5408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47F2-B572-1341-97A2-03F799FC1CDE}"/>
              </a:ext>
            </a:extLst>
          </p:cNvPr>
          <p:cNvSpPr>
            <a:spLocks noGrp="1"/>
          </p:cNvSpPr>
          <p:nvPr>
            <p:ph type="title"/>
          </p:nvPr>
        </p:nvSpPr>
        <p:spPr/>
        <p:txBody>
          <a:bodyPr/>
          <a:lstStyle/>
          <a:p>
            <a:r>
              <a:rPr lang="en-US" dirty="0"/>
              <a:t>Click to edit</a:t>
            </a:r>
          </a:p>
        </p:txBody>
      </p:sp>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5" name="Footer Placeholder 4">
            <a:extLst>
              <a:ext uri="{FF2B5EF4-FFF2-40B4-BE49-F238E27FC236}">
                <a16:creationId xmlns:a16="http://schemas.microsoft.com/office/drawing/2014/main" id="{7D1C2F5B-0BEC-1B48-AF19-F70CBF88DDD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604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dirty="0"/>
          </a:p>
          <a:p>
            <a:r>
              <a:rPr lang="en-US" dirty="0"/>
              <a:t>Drag chart to placeholder or click icon to add chart</a:t>
            </a:r>
          </a:p>
          <a:p>
            <a:endParaRPr lang="en-US" dirty="0"/>
          </a:p>
        </p:txBody>
      </p:sp>
      <p:sp>
        <p:nvSpPr>
          <p:cNvPr id="8" name="Footer Placeholder 7">
            <a:extLst>
              <a:ext uri="{FF2B5EF4-FFF2-40B4-BE49-F238E27FC236}">
                <a16:creationId xmlns:a16="http://schemas.microsoft.com/office/drawing/2014/main" id="{EEFBFC18-7AE9-1C44-9039-61F804A6140A}"/>
              </a:ext>
            </a:extLst>
          </p:cNvPr>
          <p:cNvSpPr>
            <a:spLocks noGrp="1"/>
          </p:cNvSpPr>
          <p:nvPr>
            <p:ph type="ftr" sz="quarter" idx="17"/>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61249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614BA-85C5-BA49-A402-F7BCCCDB2C4F}"/>
              </a:ext>
            </a:extLst>
          </p:cNvPr>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a:extLst>
              <a:ext uri="{FF2B5EF4-FFF2-40B4-BE49-F238E27FC236}">
                <a16:creationId xmlns:a16="http://schemas.microsoft.com/office/drawing/2014/main" id="{27B0F206-4721-B742-B71F-C0AADA23A98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a:extLst>
              <a:ext uri="{FF2B5EF4-FFF2-40B4-BE49-F238E27FC236}">
                <a16:creationId xmlns:a16="http://schemas.microsoft.com/office/drawing/2014/main" id="{0BD4790E-48FE-324B-A4AD-34E3A7792E59}"/>
              </a:ext>
            </a:extLst>
          </p:cNvPr>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9379714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0" r:id="rId3"/>
    <p:sldLayoutId id="2147483664" r:id="rId4"/>
    <p:sldLayoutId id="2147483652" r:id="rId5"/>
    <p:sldLayoutId id="2147483653" r:id="rId6"/>
    <p:sldLayoutId id="2147483654" r:id="rId7"/>
    <p:sldLayoutId id="2147483655" r:id="rId8"/>
    <p:sldLayoutId id="2147483665" r:id="rId9"/>
    <p:sldLayoutId id="2147483666" r:id="rId10"/>
    <p:sldLayoutId id="2147483660" r:id="rId11"/>
    <p:sldLayoutId id="2147483667"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a:extLst>
              <a:ext uri="{FF2B5EF4-FFF2-40B4-BE49-F238E27FC236}">
                <a16:creationId xmlns:a16="http://schemas.microsoft.com/office/drawing/2014/main" id="{1089AC9A-5D7D-5A4C-8605-7607252D4FA1}"/>
              </a:ext>
            </a:extLst>
          </p:cNvPr>
          <p:cNvSpPr>
            <a:spLocks noGrp="1"/>
          </p:cNvSpPr>
          <p:nvPr>
            <p:ph type="ctrTitle"/>
          </p:nvPr>
        </p:nvSpPr>
        <p:spPr>
          <a:xfrm>
            <a:off x="280893" y="1590390"/>
            <a:ext cx="7295929" cy="3044903"/>
          </a:xfrm>
        </p:spPr>
        <p:txBody>
          <a:bodyPr/>
          <a:lstStyle/>
          <a:p>
            <a:r>
              <a:rPr lang="en-US" dirty="0"/>
              <a:t>passive cooling system for home </a:t>
            </a:r>
          </a:p>
        </p:txBody>
      </p:sp>
      <p:sp>
        <p:nvSpPr>
          <p:cNvPr id="8" name="Rectangle 7">
            <a:extLst>
              <a:ext uri="{FF2B5EF4-FFF2-40B4-BE49-F238E27FC236}">
                <a16:creationId xmlns:a16="http://schemas.microsoft.com/office/drawing/2014/main" id="{E47CE931-39E1-850E-41A2-9B323EFA2783}"/>
              </a:ext>
            </a:extLst>
          </p:cNvPr>
          <p:cNvSpPr/>
          <p:nvPr/>
        </p:nvSpPr>
        <p:spPr>
          <a:xfrm>
            <a:off x="7334865" y="983226"/>
            <a:ext cx="4857135" cy="5874773"/>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a:extLst>
              <a:ext uri="{FF2B5EF4-FFF2-40B4-BE49-F238E27FC236}">
                <a16:creationId xmlns:a16="http://schemas.microsoft.com/office/drawing/2014/main" id="{738880D4-E34B-E552-59E7-F03949CCE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8780" y="1590390"/>
            <a:ext cx="3479958" cy="34799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F1A4ABE-3FDA-6EFC-91AC-72D2BF3BD196}"/>
              </a:ext>
            </a:extLst>
          </p:cNvPr>
          <p:cNvSpPr/>
          <p:nvPr/>
        </p:nvSpPr>
        <p:spPr>
          <a:xfrm>
            <a:off x="0" y="5751790"/>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extLst>
      <p:ext uri="{BB962C8B-B14F-4D97-AF65-F5344CB8AC3E}">
        <p14:creationId xmlns:p14="http://schemas.microsoft.com/office/powerpoint/2010/main" val="40781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6EFFE0B3-6566-3F48-9291-A6A8E30E2D62}"/>
              </a:ext>
            </a:extLst>
          </p:cNvPr>
          <p:cNvSpPr>
            <a:spLocks noGrp="1"/>
          </p:cNvSpPr>
          <p:nvPr>
            <p:ph type="title"/>
          </p:nvPr>
        </p:nvSpPr>
        <p:spPr>
          <a:xfrm>
            <a:off x="566928" y="1234125"/>
            <a:ext cx="6951472" cy="978729"/>
          </a:xfrm>
        </p:spPr>
        <p:txBody>
          <a:bodyPr/>
          <a:lstStyle/>
          <a:p>
            <a:r>
              <a:rPr lang="en-IN" sz="3200" dirty="0"/>
              <a:t>PASSIVE COOLING SYSTEM FOR HOME</a:t>
            </a:r>
            <a:endParaRPr lang="en-US" sz="3200" dirty="0"/>
          </a:p>
        </p:txBody>
      </p:sp>
      <p:sp>
        <p:nvSpPr>
          <p:cNvPr id="16" name="Slide Number">
            <a:extLst>
              <a:ext uri="{FF2B5EF4-FFF2-40B4-BE49-F238E27FC236}">
                <a16:creationId xmlns:a16="http://schemas.microsoft.com/office/drawing/2014/main" id="{4603F0F3-CF76-774D-86D8-DB88B362524A}"/>
              </a:ext>
            </a:extLst>
          </p:cNvP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a:extLst>
              <a:ext uri="{FF2B5EF4-FFF2-40B4-BE49-F238E27FC236}">
                <a16:creationId xmlns:a16="http://schemas.microsoft.com/office/drawing/2014/main" id="{4D6A913C-1F80-C2E7-2C11-FAC7D7E5E2BC}"/>
              </a:ext>
            </a:extLst>
          </p:cNvPr>
          <p:cNvSpPr>
            <a:spLocks noGrp="1"/>
          </p:cNvSpPr>
          <p:nvPr>
            <p:ph idx="1"/>
          </p:nvPr>
        </p:nvSpPr>
        <p:spPr>
          <a:xfrm>
            <a:off x="566928" y="2464752"/>
            <a:ext cx="10799411" cy="3968249"/>
          </a:xfrm>
        </p:spPr>
        <p:txBody>
          <a:bodyPr/>
          <a:lstStyle/>
          <a:p>
            <a:pPr marL="0" indent="0" algn="just">
              <a:buNone/>
            </a:pPr>
            <a:r>
              <a:rPr lang="en-IN" sz="2800" dirty="0"/>
              <a:t>Cool Living Without AC</a:t>
            </a:r>
          </a:p>
          <a:p>
            <a:pPr marL="0" indent="0" algn="just">
              <a:buNone/>
            </a:pPr>
            <a:r>
              <a:rPr lang="en-US" sz="2800" dirty="0"/>
              <a:t>A low-cost passive cooling model using Shading + Cross Ventilation to reduce indoor temperature naturally, improve airflow, and reduce electricity consumption.</a:t>
            </a:r>
            <a:r>
              <a:rPr lang="en-US" dirty="0"/>
              <a:t>.</a:t>
            </a:r>
            <a:endParaRPr lang="en-IN" dirty="0"/>
          </a:p>
        </p:txBody>
      </p:sp>
      <p:sp>
        <p:nvSpPr>
          <p:cNvPr id="10" name="Rectangle 9">
            <a:extLst>
              <a:ext uri="{FF2B5EF4-FFF2-40B4-BE49-F238E27FC236}">
                <a16:creationId xmlns:a16="http://schemas.microsoft.com/office/drawing/2014/main" id="{8C0A6794-0D44-2C2B-8DDD-F20A931F4B30}"/>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09FAC87-EA26-5E89-32E8-FD96E222C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3BEC0A6-A5CE-914E-9A9E-BB0E40137093}"/>
              </a:ext>
            </a:extLst>
          </p:cNvPr>
          <p:cNvSpPr>
            <a:spLocks noGrp="1"/>
          </p:cNvSpPr>
          <p:nvPr>
            <p:ph type="title"/>
          </p:nvPr>
        </p:nvSpPr>
        <p:spPr/>
        <p:txBody>
          <a:bodyPr/>
          <a:lstStyle/>
          <a:p>
            <a:r>
              <a:rPr lang="en-US" dirty="0"/>
              <a:t>Double Content Slide</a:t>
            </a:r>
          </a:p>
        </p:txBody>
      </p:sp>
      <p:sp>
        <p:nvSpPr>
          <p:cNvPr id="3" name="Side Text - Column 1">
            <a:extLst>
              <a:ext uri="{FF2B5EF4-FFF2-40B4-BE49-F238E27FC236}">
                <a16:creationId xmlns:a16="http://schemas.microsoft.com/office/drawing/2014/main" id="{38025F87-E395-E545-BB3A-BF62703CCBBB}"/>
              </a:ext>
            </a:extLst>
          </p:cNvPr>
          <p:cNvSpPr>
            <a:spLocks noGrp="1"/>
          </p:cNvSpPr>
          <p:nvPr>
            <p:ph sz="half" idx="1"/>
          </p:nvPr>
        </p:nvSpPr>
        <p:spPr/>
        <p:txBody>
          <a:bodyPr/>
          <a:lstStyle/>
          <a:p>
            <a:pPr marL="0" indent="0">
              <a:buNone/>
            </a:pPr>
            <a:r>
              <a:rPr lang="en-US" sz="2000" b="1" dirty="0"/>
              <a:t>Technical Architecture</a:t>
            </a:r>
          </a:p>
          <a:p>
            <a:pPr marL="0" indent="0" algn="just">
              <a:buNone/>
            </a:pPr>
            <a:r>
              <a:rPr lang="en-US" b="1" dirty="0"/>
              <a:t> </a:t>
            </a:r>
            <a:r>
              <a:rPr lang="en-US" sz="2000" dirty="0"/>
              <a:t>The system uses shading and cross ventilation for natural cooling. An ESP32 collects temperature data from three sensors placed at the inlet, indoor room, and outlet. An RTC module provides timestamps, and all readings are stored in an SD card for analysis.</a:t>
            </a:r>
            <a:endParaRPr lang="en-US" dirty="0"/>
          </a:p>
        </p:txBody>
      </p:sp>
      <p:sp>
        <p:nvSpPr>
          <p:cNvPr id="4" name="Side Text - Column 2">
            <a:extLst>
              <a:ext uri="{FF2B5EF4-FFF2-40B4-BE49-F238E27FC236}">
                <a16:creationId xmlns:a16="http://schemas.microsoft.com/office/drawing/2014/main" id="{141D36D5-50E8-C945-95D9-AC162A32E5E9}"/>
              </a:ext>
            </a:extLst>
          </p:cNvPr>
          <p:cNvSpPr>
            <a:spLocks noGrp="1"/>
          </p:cNvSpPr>
          <p:nvPr>
            <p:ph sz="half" idx="2"/>
          </p:nvPr>
        </p:nvSpPr>
        <p:spPr/>
        <p:txBody>
          <a:bodyPr/>
          <a:lstStyle/>
          <a:p>
            <a:pPr marL="0" indent="0">
              <a:buNone/>
            </a:pPr>
            <a:r>
              <a:rPr lang="en-US" sz="2000" b="1" dirty="0"/>
              <a:t>User Value &amp; Impact</a:t>
            </a:r>
          </a:p>
          <a:p>
            <a:pPr marL="0" indent="0" algn="just">
              <a:buNone/>
            </a:pPr>
            <a:r>
              <a:rPr lang="en-US" sz="2000" dirty="0"/>
              <a:t>The system reduces indoor temperature without using electrical cooling. Sensor-based monitoring validates performance scientifically. It is a low-cost and eco-friendly solution for sustainable housing.</a:t>
            </a:r>
          </a:p>
          <a:p>
            <a:pPr marL="0" indent="0" algn="just">
              <a:buNone/>
            </a:pPr>
            <a:endParaRPr lang="en-US" sz="2000" dirty="0"/>
          </a:p>
        </p:txBody>
      </p:sp>
      <p:sp>
        <p:nvSpPr>
          <p:cNvPr id="15" name="Slide Number">
            <a:extLst>
              <a:ext uri="{FF2B5EF4-FFF2-40B4-BE49-F238E27FC236}">
                <a16:creationId xmlns:a16="http://schemas.microsoft.com/office/drawing/2014/main" id="{A6790C53-F8BB-DF4A-8361-919F8B7F69D9}"/>
              </a:ext>
            </a:extLst>
          </p:cNvP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a:extLst>
              <a:ext uri="{FF2B5EF4-FFF2-40B4-BE49-F238E27FC236}">
                <a16:creationId xmlns:a16="http://schemas.microsoft.com/office/drawing/2014/main" id="{D92C6FD2-673C-D83E-C716-1C989A6761E8}"/>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15E68AEA-E1B7-F441-CC54-52CAA052A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96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8DBE833-A922-5747-A36B-4314D3116822}"/>
              </a:ext>
            </a:extLst>
          </p:cNvPr>
          <p:cNvSpPr>
            <a:spLocks noGrp="1"/>
          </p:cNvSpPr>
          <p:nvPr>
            <p:ph type="title"/>
          </p:nvPr>
        </p:nvSpPr>
        <p:spPr>
          <a:xfrm>
            <a:off x="566928" y="1204150"/>
            <a:ext cx="6951472" cy="590931"/>
          </a:xfrm>
        </p:spPr>
        <p:txBody>
          <a:bodyPr/>
          <a:lstStyle/>
          <a:p>
            <a:r>
              <a:rPr lang="en-US" dirty="0"/>
              <a:t>Bulleted List Slide</a:t>
            </a:r>
          </a:p>
        </p:txBody>
      </p:sp>
      <p:sp>
        <p:nvSpPr>
          <p:cNvPr id="8" name="Slide Number">
            <a:extLst>
              <a:ext uri="{FF2B5EF4-FFF2-40B4-BE49-F238E27FC236}">
                <a16:creationId xmlns:a16="http://schemas.microsoft.com/office/drawing/2014/main" id="{1E758566-FAE7-1B41-AABE-FDB3CDFB0BC2}"/>
              </a:ext>
            </a:extLst>
          </p:cNvPr>
          <p:cNvSpPr>
            <a:spLocks noGrp="1"/>
          </p:cNvSpPr>
          <p:nvPr>
            <p:ph type="ftr" sz="quarter" idx="10"/>
          </p:nvPr>
        </p:nvSpPr>
        <p:spPr/>
        <p:txBody>
          <a:bodyPr/>
          <a:lstStyle/>
          <a:p>
            <a:fld id="{FF97EF4A-40C6-024D-A945-B03D1BBD02F7}" type="slidenum">
              <a:rPr lang="en-US" smtClean="0"/>
              <a:t>4</a:t>
            </a:fld>
            <a:endParaRPr lang="en-US" dirty="0"/>
          </a:p>
        </p:txBody>
      </p:sp>
      <p:sp>
        <p:nvSpPr>
          <p:cNvPr id="5" name="Content Placeholder 4">
            <a:extLst>
              <a:ext uri="{FF2B5EF4-FFF2-40B4-BE49-F238E27FC236}">
                <a16:creationId xmlns:a16="http://schemas.microsoft.com/office/drawing/2014/main" id="{BDBD5515-6276-4881-A3CD-953AD66FA3AD}"/>
              </a:ext>
            </a:extLst>
          </p:cNvPr>
          <p:cNvSpPr>
            <a:spLocks noGrp="1"/>
          </p:cNvSpPr>
          <p:nvPr>
            <p:ph idx="1"/>
          </p:nvPr>
        </p:nvSpPr>
        <p:spPr>
          <a:xfrm>
            <a:off x="622808" y="1942348"/>
            <a:ext cx="10488888" cy="3968249"/>
          </a:xfrm>
        </p:spPr>
        <p:txBody>
          <a:bodyPr/>
          <a:lstStyle/>
          <a:p>
            <a:r>
              <a:rPr lang="en-US" sz="2000" dirty="0"/>
              <a:t>Natural Cooling System – No AC required</a:t>
            </a:r>
          </a:p>
          <a:p>
            <a:r>
              <a:rPr lang="en-US" sz="2000" dirty="0"/>
              <a:t>Shading Mechanism – Reduces direct solar heat gain</a:t>
            </a:r>
          </a:p>
          <a:p>
            <a:r>
              <a:rPr lang="en-US" sz="2000" dirty="0"/>
              <a:t>Cross Ventilation – Continuous airflow circulation</a:t>
            </a:r>
          </a:p>
          <a:p>
            <a:r>
              <a:rPr lang="en-US" sz="2000" dirty="0"/>
              <a:t>ESP32 Monitoring – Smart temperature tracking</a:t>
            </a:r>
          </a:p>
          <a:p>
            <a:r>
              <a:rPr lang="en-US" sz="2000" dirty="0"/>
              <a:t>RTC Integration – Time-based data recording</a:t>
            </a:r>
          </a:p>
          <a:p>
            <a:r>
              <a:rPr lang="en-US" sz="2000" dirty="0"/>
              <a:t>Three-Point Temperature Analysis – Inlet, Indoor &amp; Outlet</a:t>
            </a:r>
          </a:p>
          <a:p>
            <a:r>
              <a:rPr lang="en-US" sz="2000" dirty="0"/>
              <a:t>Low-Cost &amp; Sustainable Design</a:t>
            </a:r>
          </a:p>
        </p:txBody>
      </p:sp>
      <p:sp>
        <p:nvSpPr>
          <p:cNvPr id="6" name="Rectangle 5">
            <a:extLst>
              <a:ext uri="{FF2B5EF4-FFF2-40B4-BE49-F238E27FC236}">
                <a16:creationId xmlns:a16="http://schemas.microsoft.com/office/drawing/2014/main" id="{0EAA5F49-DDB8-A757-9699-BF1EF25BB02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a:extLst>
              <a:ext uri="{FF2B5EF4-FFF2-40B4-BE49-F238E27FC236}">
                <a16:creationId xmlns:a16="http://schemas.microsoft.com/office/drawing/2014/main" id="{A354C783-D22D-33EA-3878-74D4D2294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67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A5A6BD9C-352C-594C-84C3-B534C6BE8173}"/>
              </a:ext>
            </a:extLst>
          </p:cNvPr>
          <p:cNvSpPr>
            <a:spLocks noGrp="1"/>
          </p:cNvSpPr>
          <p:nvPr>
            <p:ph type="title"/>
          </p:nvPr>
        </p:nvSpPr>
        <p:spPr>
          <a:xfrm>
            <a:off x="566928" y="1203897"/>
            <a:ext cx="10515600" cy="590931"/>
          </a:xfrm>
        </p:spPr>
        <p:txBody>
          <a:bodyPr/>
          <a:lstStyle/>
          <a:p>
            <a:r>
              <a:rPr lang="en-US" dirty="0"/>
              <a:t>Comparison Slide</a:t>
            </a:r>
          </a:p>
        </p:txBody>
      </p:sp>
      <p:sp>
        <p:nvSpPr>
          <p:cNvPr id="13" name="Compare Section">
            <a:extLst>
              <a:ext uri="{FF2B5EF4-FFF2-40B4-BE49-F238E27FC236}">
                <a16:creationId xmlns:a16="http://schemas.microsoft.com/office/drawing/2014/main" id="{384880BB-377B-F24A-A7CA-B308CACEC9E0}"/>
              </a:ext>
            </a:extLst>
          </p:cNvPr>
          <p:cNvSpPr>
            <a:spLocks noGrp="1"/>
          </p:cNvSpPr>
          <p:nvPr>
            <p:ph type="body" idx="1"/>
          </p:nvPr>
        </p:nvSpPr>
        <p:spPr>
          <a:xfrm>
            <a:off x="566928" y="2039567"/>
            <a:ext cx="5138928" cy="450829"/>
          </a:xfrm>
        </p:spPr>
        <p:txBody>
          <a:bodyPr/>
          <a:lstStyle/>
          <a:p>
            <a:r>
              <a:rPr lang="en-US" sz="2000" dirty="0"/>
              <a:t>Compare Section</a:t>
            </a:r>
          </a:p>
        </p:txBody>
      </p:sp>
      <p:sp>
        <p:nvSpPr>
          <p:cNvPr id="14" name="Compare Section - Text">
            <a:extLst>
              <a:ext uri="{FF2B5EF4-FFF2-40B4-BE49-F238E27FC236}">
                <a16:creationId xmlns:a16="http://schemas.microsoft.com/office/drawing/2014/main" id="{48B0953F-74D7-0140-8C86-93FC4F66A37B}"/>
              </a:ext>
            </a:extLst>
          </p:cNvPr>
          <p:cNvSpPr>
            <a:spLocks noGrp="1"/>
          </p:cNvSpPr>
          <p:nvPr>
            <p:ph sz="half" idx="2"/>
          </p:nvPr>
        </p:nvSpPr>
        <p:spPr>
          <a:xfrm>
            <a:off x="566928" y="2509117"/>
            <a:ext cx="5140515" cy="3535744"/>
          </a:xfrm>
        </p:spPr>
        <p:txBody>
          <a:bodyPr/>
          <a:lstStyle/>
          <a:p>
            <a:pPr marL="0" indent="0" algn="just">
              <a:spcAft>
                <a:spcPts val="600"/>
              </a:spcAft>
              <a:buNone/>
            </a:pPr>
            <a:r>
              <a:rPr lang="en-US" sz="2000" dirty="0"/>
              <a:t>Like conventional cooling systems, our model focuses on reducing indoor temperature and improving thermal comfort during hot weather.</a:t>
            </a:r>
          </a:p>
        </p:txBody>
      </p:sp>
      <p:sp>
        <p:nvSpPr>
          <p:cNvPr id="15" name="Contrast Section">
            <a:extLst>
              <a:ext uri="{FF2B5EF4-FFF2-40B4-BE49-F238E27FC236}">
                <a16:creationId xmlns:a16="http://schemas.microsoft.com/office/drawing/2014/main" id="{E0F9A328-ECA9-CC4E-B0A6-FA23EEE9998F}"/>
              </a:ext>
            </a:extLst>
          </p:cNvPr>
          <p:cNvSpPr>
            <a:spLocks noGrp="1"/>
          </p:cNvSpPr>
          <p:nvPr>
            <p:ph type="body" sz="quarter" idx="3"/>
          </p:nvPr>
        </p:nvSpPr>
        <p:spPr>
          <a:xfrm>
            <a:off x="6172200" y="2037779"/>
            <a:ext cx="5138928" cy="450829"/>
          </a:xfrm>
        </p:spPr>
        <p:txBody>
          <a:bodyPr/>
          <a:lstStyle/>
          <a:p>
            <a:r>
              <a:rPr lang="en-US" sz="2000" dirty="0"/>
              <a:t>Contrast Section</a:t>
            </a:r>
          </a:p>
        </p:txBody>
      </p:sp>
      <p:sp>
        <p:nvSpPr>
          <p:cNvPr id="16" name="Contrast Section - Text">
            <a:extLst>
              <a:ext uri="{FF2B5EF4-FFF2-40B4-BE49-F238E27FC236}">
                <a16:creationId xmlns:a16="http://schemas.microsoft.com/office/drawing/2014/main" id="{2EBC524D-C050-3F4A-88E2-E7EBEEE90AF0}"/>
              </a:ext>
            </a:extLst>
          </p:cNvPr>
          <p:cNvSpPr>
            <a:spLocks noGrp="1"/>
          </p:cNvSpPr>
          <p:nvPr>
            <p:ph sz="quarter" idx="4"/>
          </p:nvPr>
        </p:nvSpPr>
        <p:spPr>
          <a:xfrm>
            <a:off x="6172200" y="2506133"/>
            <a:ext cx="5138928" cy="3538728"/>
          </a:xfrm>
        </p:spPr>
        <p:txBody>
          <a:bodyPr/>
          <a:lstStyle/>
          <a:p>
            <a:pPr marL="0" indent="0" algn="just">
              <a:buNone/>
            </a:pPr>
            <a:r>
              <a:rPr lang="en-US" sz="2000" dirty="0"/>
              <a:t>Unlike air conditioners that consume high electricity and increase cost, our passive cooling system works naturally without power consumption.</a:t>
            </a:r>
          </a:p>
          <a:p>
            <a:pPr marL="0" indent="0" algn="just">
              <a:buNone/>
            </a:pPr>
            <a:r>
              <a:rPr lang="en-US" sz="2000" dirty="0"/>
              <a:t>Additionally, smart monitoring using ESP32 and sensors provides real-time performance evaluation, which traditional passive designs do not offer.</a:t>
            </a:r>
          </a:p>
        </p:txBody>
      </p:sp>
      <p:sp>
        <p:nvSpPr>
          <p:cNvPr id="23" name="Slide Number">
            <a:extLst>
              <a:ext uri="{FF2B5EF4-FFF2-40B4-BE49-F238E27FC236}">
                <a16:creationId xmlns:a16="http://schemas.microsoft.com/office/drawing/2014/main" id="{692346D0-C19D-754C-B7FB-4EEAD59AF4EB}"/>
              </a:ext>
            </a:extLst>
          </p:cNvPr>
          <p:cNvSpPr>
            <a:spLocks noGrp="1"/>
          </p:cNvSpPr>
          <p:nvPr>
            <p:ph type="ftr" sz="quarter" idx="10"/>
          </p:nvPr>
        </p:nvSpPr>
        <p:spPr/>
        <p:txBody>
          <a:bodyPr/>
          <a:lstStyle/>
          <a:p>
            <a:fld id="{11612D8C-0CE2-8F48-B865-A1C7EEB20945}" type="slidenum">
              <a:rPr lang="en-US" smtClean="0"/>
              <a:t>5</a:t>
            </a:fld>
            <a:endParaRPr lang="en-US" dirty="0"/>
          </a:p>
        </p:txBody>
      </p:sp>
      <p:sp>
        <p:nvSpPr>
          <p:cNvPr id="2" name="Rectangle 1">
            <a:extLst>
              <a:ext uri="{FF2B5EF4-FFF2-40B4-BE49-F238E27FC236}">
                <a16:creationId xmlns:a16="http://schemas.microsoft.com/office/drawing/2014/main" id="{DC1D069B-0F58-C58D-35EC-4C6DB3F00376}"/>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a:extLst>
              <a:ext uri="{FF2B5EF4-FFF2-40B4-BE49-F238E27FC236}">
                <a16:creationId xmlns:a16="http://schemas.microsoft.com/office/drawing/2014/main" id="{CE1C2C29-CE5B-056E-24FC-D9D195ED3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57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3AC14BE6-0C46-714B-B7A3-48A9E49BAF81}"/>
              </a:ext>
            </a:extLst>
          </p:cNvPr>
          <p:cNvSpPr>
            <a:spLocks noGrp="1"/>
          </p:cNvSpPr>
          <p:nvPr>
            <p:ph type="title"/>
          </p:nvPr>
        </p:nvSpPr>
        <p:spPr>
          <a:xfrm>
            <a:off x="566928" y="1154754"/>
            <a:ext cx="4248912" cy="590931"/>
          </a:xfrm>
        </p:spPr>
        <p:txBody>
          <a:bodyPr/>
          <a:lstStyle/>
          <a:p>
            <a:r>
              <a:rPr lang="en-US" dirty="0"/>
              <a:t>Prototype</a:t>
            </a:r>
          </a:p>
        </p:txBody>
      </p:sp>
      <p:sp>
        <p:nvSpPr>
          <p:cNvPr id="3" name="Slide Text">
            <a:extLst>
              <a:ext uri="{FF2B5EF4-FFF2-40B4-BE49-F238E27FC236}">
                <a16:creationId xmlns:a16="http://schemas.microsoft.com/office/drawing/2014/main" id="{4229366B-9DFE-0244-A864-A3ECC8897F6F}"/>
              </a:ext>
            </a:extLst>
          </p:cNvPr>
          <p:cNvSpPr>
            <a:spLocks noGrp="1"/>
          </p:cNvSpPr>
          <p:nvPr>
            <p:ph idx="1"/>
          </p:nvPr>
        </p:nvSpPr>
        <p:spPr>
          <a:xfrm>
            <a:off x="465634" y="1955699"/>
            <a:ext cx="4601972" cy="3968249"/>
          </a:xfrm>
        </p:spPr>
        <p:txBody>
          <a:bodyPr/>
          <a:lstStyle/>
          <a:p>
            <a:r>
              <a:rPr lang="en-US" dirty="0"/>
              <a:t>Shaded roof to reduce solar heat gain</a:t>
            </a:r>
          </a:p>
          <a:p>
            <a:r>
              <a:rPr lang="en-US" dirty="0"/>
              <a:t>Opposite openings for cross ventilation</a:t>
            </a:r>
          </a:p>
          <a:p>
            <a:r>
              <a:rPr lang="en-US" dirty="0"/>
              <a:t>ESP32 for temperature data collection</a:t>
            </a:r>
          </a:p>
          <a:p>
            <a:pPr algn="just"/>
            <a:r>
              <a:rPr lang="en-US" dirty="0"/>
              <a:t>RTC module for timestamp recording</a:t>
            </a:r>
          </a:p>
          <a:p>
            <a:r>
              <a:rPr lang="en-US" dirty="0"/>
              <a:t>Three sensors – Inlet, Indoor, Outlet</a:t>
            </a:r>
          </a:p>
          <a:p>
            <a:r>
              <a:rPr lang="en-US" dirty="0"/>
              <a:t>SD card module for data storage</a:t>
            </a:r>
          </a:p>
          <a:p>
            <a:r>
              <a:rPr lang="en-US" dirty="0"/>
              <a:t>Compact and practical demo model</a:t>
            </a:r>
          </a:p>
        </p:txBody>
      </p:sp>
      <p:sp>
        <p:nvSpPr>
          <p:cNvPr id="5" name="Rectangle 4">
            <a:extLst>
              <a:ext uri="{FF2B5EF4-FFF2-40B4-BE49-F238E27FC236}">
                <a16:creationId xmlns:a16="http://schemas.microsoft.com/office/drawing/2014/main" id="{12435FF2-28C8-2D2D-BDEB-0C5DCD1A98EC}"/>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26419DA3-9A42-55A5-4228-4E21C30A8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9F35E94-080C-4375-8D91-D0DBD8F9168F}"/>
              </a:ext>
            </a:extLst>
          </p:cNvPr>
          <p:cNvPicPr>
            <a:picLocks noChangeAspect="1"/>
          </p:cNvPicPr>
          <p:nvPr/>
        </p:nvPicPr>
        <p:blipFill>
          <a:blip r:embed="rId3"/>
          <a:stretch>
            <a:fillRect/>
          </a:stretch>
        </p:blipFill>
        <p:spPr>
          <a:xfrm>
            <a:off x="5225142" y="961303"/>
            <a:ext cx="6966857" cy="5868402"/>
          </a:xfrm>
          <a:prstGeom prst="rect">
            <a:avLst/>
          </a:prstGeom>
        </p:spPr>
      </p:pic>
    </p:spTree>
    <p:extLst>
      <p:ext uri="{BB962C8B-B14F-4D97-AF65-F5344CB8AC3E}">
        <p14:creationId xmlns:p14="http://schemas.microsoft.com/office/powerpoint/2010/main" val="67173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D8FCB22-2DC7-E144-8B90-49F436AB4F01}"/>
              </a:ext>
            </a:extLst>
          </p:cNvPr>
          <p:cNvSpPr>
            <a:spLocks noGrp="1"/>
          </p:cNvSpPr>
          <p:nvPr>
            <p:ph type="title"/>
          </p:nvPr>
        </p:nvSpPr>
        <p:spPr>
          <a:xfrm>
            <a:off x="566928" y="1186053"/>
            <a:ext cx="5135372" cy="490347"/>
          </a:xfrm>
        </p:spPr>
        <p:txBody>
          <a:bodyPr/>
          <a:lstStyle/>
          <a:p>
            <a:r>
              <a:rPr lang="en-US" dirty="0"/>
              <a:t>Detection Breakdown</a:t>
            </a:r>
          </a:p>
        </p:txBody>
      </p:sp>
      <p:sp>
        <p:nvSpPr>
          <p:cNvPr id="7" name="Slide Number">
            <a:extLst>
              <a:ext uri="{FF2B5EF4-FFF2-40B4-BE49-F238E27FC236}">
                <a16:creationId xmlns:a16="http://schemas.microsoft.com/office/drawing/2014/main" id="{185F3C10-40FA-5845-8029-D5490ECDA88F}"/>
              </a:ext>
            </a:extLst>
          </p:cNvPr>
          <p:cNvSpPr>
            <a:spLocks noGrp="1"/>
          </p:cNvSpPr>
          <p:nvPr>
            <p:ph type="ftr" sz="quarter" idx="17"/>
          </p:nvPr>
        </p:nvSpPr>
        <p:spPr/>
        <p:txBody>
          <a:bodyPr/>
          <a:lstStyle/>
          <a:p>
            <a:fld id="{85954F8D-B7E6-D640-BC50-D014E954A05D}" type="slidenum">
              <a:rPr lang="en-US" smtClean="0"/>
              <a:t>7</a:t>
            </a:fld>
            <a:endParaRPr lang="en-US" dirty="0"/>
          </a:p>
        </p:txBody>
      </p:sp>
      <p:sp>
        <p:nvSpPr>
          <p:cNvPr id="20" name="Content Placeholder 19">
            <a:extLst>
              <a:ext uri="{FF2B5EF4-FFF2-40B4-BE49-F238E27FC236}">
                <a16:creationId xmlns:a16="http://schemas.microsoft.com/office/drawing/2014/main" id="{BC8F620B-92D5-800F-28F8-E971FF9AEAD7}"/>
              </a:ext>
            </a:extLst>
          </p:cNvPr>
          <p:cNvSpPr>
            <a:spLocks noGrp="1"/>
          </p:cNvSpPr>
          <p:nvPr>
            <p:ph idx="1"/>
          </p:nvPr>
        </p:nvSpPr>
        <p:spPr/>
        <p:txBody>
          <a:bodyPr/>
          <a:lstStyle/>
          <a:p>
            <a:pPr marL="0" indent="0" algn="just">
              <a:buNone/>
            </a:pPr>
            <a:r>
              <a:rPr lang="en-US" sz="2000" dirty="0"/>
              <a:t>Temperature data was recorded from inlet, indoor, and outlet sensors during testing. Readings were timestamped using the RTC module and stored in the SD card for analysis. Cooling performance may vary based on environmental conditions and airflow.</a:t>
            </a:r>
          </a:p>
        </p:txBody>
      </p:sp>
      <p:sp>
        <p:nvSpPr>
          <p:cNvPr id="21" name="Rectangle 20">
            <a:extLst>
              <a:ext uri="{FF2B5EF4-FFF2-40B4-BE49-F238E27FC236}">
                <a16:creationId xmlns:a16="http://schemas.microsoft.com/office/drawing/2014/main" id="{F450BACB-BAD2-B811-AEB3-0D7478CF0CFD}"/>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245FC4DD-935D-244C-F1FD-8A9F36222F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37019"/>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Output image">
            <a:extLst>
              <a:ext uri="{FF2B5EF4-FFF2-40B4-BE49-F238E27FC236}">
                <a16:creationId xmlns:a16="http://schemas.microsoft.com/office/drawing/2014/main" id="{B5B072EF-A474-4A66-AC15-C09538A188F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Output image">
            <a:extLst>
              <a:ext uri="{FF2B5EF4-FFF2-40B4-BE49-F238E27FC236}">
                <a16:creationId xmlns:a16="http://schemas.microsoft.com/office/drawing/2014/main" id="{312601F7-631F-4601-A94D-A08B582C7738}"/>
              </a:ext>
            </a:extLst>
          </p:cNvPr>
          <p:cNvSpPr>
            <a:spLocks noChangeAspect="1" noChangeArrowheads="1"/>
          </p:cNvSpPr>
          <p:nvPr/>
        </p:nvSpPr>
        <p:spPr bwMode="auto">
          <a:xfrm>
            <a:off x="5426951" y="1992754"/>
            <a:ext cx="5353050" cy="36791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 name="AutoShape 8" descr="Output image">
            <a:extLst>
              <a:ext uri="{FF2B5EF4-FFF2-40B4-BE49-F238E27FC236}">
                <a16:creationId xmlns:a16="http://schemas.microsoft.com/office/drawing/2014/main" id="{9C32933C-6A3C-4FA4-BF70-CF1DA98822E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BC9A1DB2-64C5-46A0-91D9-B023DFBADCC7}"/>
              </a:ext>
            </a:extLst>
          </p:cNvPr>
          <p:cNvPicPr>
            <a:picLocks noChangeAspect="1"/>
          </p:cNvPicPr>
          <p:nvPr/>
        </p:nvPicPr>
        <p:blipFill>
          <a:blip r:embed="rId3"/>
          <a:stretch>
            <a:fillRect/>
          </a:stretch>
        </p:blipFill>
        <p:spPr>
          <a:xfrm>
            <a:off x="5118538" y="1439918"/>
            <a:ext cx="6421821" cy="5244982"/>
          </a:xfrm>
          <a:prstGeom prst="rect">
            <a:avLst/>
          </a:prstGeom>
        </p:spPr>
      </p:pic>
    </p:spTree>
    <p:extLst>
      <p:ext uri="{BB962C8B-B14F-4D97-AF65-F5344CB8AC3E}">
        <p14:creationId xmlns:p14="http://schemas.microsoft.com/office/powerpoint/2010/main" val="292113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74204B13-12CE-5849-82EE-2A784C3AC220}"/>
              </a:ext>
            </a:extLst>
          </p:cNvPr>
          <p:cNvSpPr>
            <a:spLocks noGrp="1"/>
          </p:cNvSpPr>
          <p:nvPr>
            <p:ph type="ftr" sz="quarter" idx="10"/>
          </p:nvPr>
        </p:nvSpPr>
        <p:spPr/>
        <p:txBody>
          <a:bodyPr/>
          <a:lstStyle/>
          <a:p>
            <a:fld id="{EB53C135-CEC6-A548-8917-8F7FEB82358B}" type="slidenum">
              <a:rPr lang="en-US" smtClean="0"/>
              <a:pPr/>
              <a:t>8</a:t>
            </a:fld>
            <a:endParaRPr lang="en-US" dirty="0"/>
          </a:p>
        </p:txBody>
      </p:sp>
      <p:sp>
        <p:nvSpPr>
          <p:cNvPr id="56" name="Content Placeholder 55">
            <a:extLst>
              <a:ext uri="{FF2B5EF4-FFF2-40B4-BE49-F238E27FC236}">
                <a16:creationId xmlns:a16="http://schemas.microsoft.com/office/drawing/2014/main" id="{FCAC153A-38CE-CA14-5FC1-834EFDDF0301}"/>
              </a:ext>
            </a:extLst>
          </p:cNvPr>
          <p:cNvSpPr>
            <a:spLocks noGrp="1"/>
          </p:cNvSpPr>
          <p:nvPr>
            <p:ph idx="1"/>
          </p:nvPr>
        </p:nvSpPr>
        <p:spPr>
          <a:xfrm>
            <a:off x="644424" y="2090547"/>
            <a:ext cx="10137875" cy="3968249"/>
          </a:xfrm>
        </p:spPr>
        <p:txBody>
          <a:bodyPr/>
          <a:lstStyle/>
          <a:p>
            <a:pPr marL="0" indent="0">
              <a:buNone/>
            </a:pPr>
            <a:r>
              <a:rPr lang="en-US" b="1" dirty="0"/>
              <a:t>Sustainable Cooling with Smart Validation</a:t>
            </a:r>
            <a:endParaRPr lang="en-US" dirty="0"/>
          </a:p>
          <a:p>
            <a:pPr marL="0" indent="0">
              <a:buNone/>
            </a:pPr>
            <a:r>
              <a:rPr lang="en-US" sz="2000" dirty="0"/>
              <a:t>The Passive Cooling System demonstrates that indoor temperature can be effectively reduced using shading and cross ventilation techniques. With integrated ESP32-based monitoring, the system validates temperature reduction scientifically.</a:t>
            </a:r>
          </a:p>
          <a:p>
            <a:pPr marL="0" indent="0">
              <a:buNone/>
            </a:pPr>
            <a:endParaRPr lang="en-US" sz="2000" dirty="0"/>
          </a:p>
          <a:p>
            <a:pPr marL="0" indent="0">
              <a:buNone/>
            </a:pPr>
            <a:r>
              <a:rPr lang="en-US" sz="2000" dirty="0"/>
              <a:t>It proves to be a low-cost, eco-friendly, and energy-efficient alternative to conventional cooling systems.</a:t>
            </a:r>
          </a:p>
        </p:txBody>
      </p:sp>
      <p:sp>
        <p:nvSpPr>
          <p:cNvPr id="58" name="Title 57">
            <a:extLst>
              <a:ext uri="{FF2B5EF4-FFF2-40B4-BE49-F238E27FC236}">
                <a16:creationId xmlns:a16="http://schemas.microsoft.com/office/drawing/2014/main" id="{3A9EFF2A-3D5F-B622-E440-9E0445FE1A0A}"/>
              </a:ext>
            </a:extLst>
          </p:cNvPr>
          <p:cNvSpPr>
            <a:spLocks noGrp="1"/>
          </p:cNvSpPr>
          <p:nvPr>
            <p:ph type="title"/>
          </p:nvPr>
        </p:nvSpPr>
        <p:spPr/>
        <p:txBody>
          <a:bodyPr/>
          <a:lstStyle/>
          <a:p>
            <a:r>
              <a:rPr lang="en-IN" dirty="0"/>
              <a:t>CONCLUSION</a:t>
            </a:r>
          </a:p>
        </p:txBody>
      </p:sp>
      <p:sp>
        <p:nvSpPr>
          <p:cNvPr id="59" name="Rectangle 58">
            <a:extLst>
              <a:ext uri="{FF2B5EF4-FFF2-40B4-BE49-F238E27FC236}">
                <a16:creationId xmlns:a16="http://schemas.microsoft.com/office/drawing/2014/main" id="{EDB0BD1B-638F-3CA9-D944-D5AA0B38D91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a:extLst>
              <a:ext uri="{FF2B5EF4-FFF2-40B4-BE49-F238E27FC236}">
                <a16:creationId xmlns:a16="http://schemas.microsoft.com/office/drawing/2014/main" id="{3843E347-A6B6-62FF-37CF-F04424D6C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88693"/>
      </p:ext>
    </p:extLst>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TotalTime>
  <Words>427</Words>
  <Application>Microsoft Office PowerPoint</Application>
  <PresentationFormat>Widescreen</PresentationFormat>
  <Paragraphs>53</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Regular</vt:lpstr>
      <vt:lpstr>Georgia</vt:lpstr>
      <vt:lpstr>System Font Regular</vt:lpstr>
      <vt:lpstr>Office Theme</vt:lpstr>
      <vt:lpstr>passive cooling system for home </vt:lpstr>
      <vt:lpstr>PASSIVE COOLING SYSTEM FOR HOME</vt:lpstr>
      <vt:lpstr>Double Content Slide</vt:lpstr>
      <vt:lpstr>Bulleted List Slide</vt:lpstr>
      <vt:lpstr>Comparison Slide</vt:lpstr>
      <vt:lpstr>Prototype</vt:lpstr>
      <vt:lpstr>Detection Breakdown</vt:lpstr>
      <vt:lpstr>CONCLUSION</vt:lpstr>
    </vt:vector>
  </TitlesOfParts>
  <Manager/>
  <Company>University at Buffalo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subject/>
  <dc:creator>Division of University Communications</dc:creator>
  <cp:keywords/>
  <dc:description/>
  <cp:lastModifiedBy>manikandankpm3778@gmail.com</cp:lastModifiedBy>
  <cp:revision>87</cp:revision>
  <dcterms:created xsi:type="dcterms:W3CDTF">2019-04-04T19:20:28Z</dcterms:created>
  <dcterms:modified xsi:type="dcterms:W3CDTF">2026-02-13T06:03:15Z</dcterms:modified>
  <cp:category/>
</cp:coreProperties>
</file>